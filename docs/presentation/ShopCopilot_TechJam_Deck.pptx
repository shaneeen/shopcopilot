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task: a customer with a hidden target product. Our job: surface it in the top-10 within 10 turns. [EMPHASIZE] We do it 88% of the time in about 3.4 turns. [PAUSE] [ADVANCE]
Timing: 15s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implemented their API exactly — and defensively. [POINT at contract row] Every turn can ask, recommend, or both; a question never forfeits the hit chance. The deterministic system is completely self-contained with no network dependency.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[EMPHASIZE] Against the official baseline we're seven-x. [PAUSE] Against our own pre-experiment system, two-thirds of the TechnicalScore gain is MRR — the ranker puts the right product higher, exactly what the shipped change predicts. [POINT at MRR row] [ADVANCE]
Timing: 45s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attempted every applicable direction on the organizer's own list — [EMPHASIZE] including the ones that produced negative results. That's how we know which mechanisms are real.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[SLOW] Every experiment had its pass bar written before the first eval ran. We measured per-session paired flips against a strict ±1 session noise floor.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[LOOK] The win failed its own hypothesis. It shipped anyway — because the flips, not the hypothesis, were the evidence. [ADVANCE]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Gains transfer out-of-sample. [POINT] And here's the small print we won't hide: boundary is six of ten — we show the counts.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[REPEAT] Six experiments did not survive their own bars. Six negatives is how you know the green one is real.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[SLOW] No score shows these. Each one redirected the next experiment. For example, knowing that 'ask less' cannot move MTTC saved us weeks of futile prompt engineering.
Timing: 35s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We audited our own pipeline for leaks and found none — [EMPHASIZE] the remaining misses are genuine capability limits, and we know exactly which.
Timing: 30s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Feasibility disclosed per spec — [POINT] zero tokens, zero model cost, no network at inference. The deterministic system is the submission.
Timing: 20s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Conversational search fails commercially when users abandon: vague query leads to wrong products leads to exit. 3.4 turns vs 9.8 is guided purchase vs bounce. Attributable ranking gives user trust.
Timing: 25s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800 hidden sessions run against our frozen commit with the unmodified official evaluator. Our fresh clone rehearsal reproduced the exact 0.880 score.
Timing: 20s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Our roadmap directly addresses our measured capability limits: expanding the pool recall layer and enriching features for deep rank misses.
Timing: 15s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Everything in this presentation is reproducible with three standard commands from a clean clone. Thank you.
Timing: 10s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2926080" cy="347472"/>
          </a:xfrm>
          <a:prstGeom prst="roundRect">
            <a:avLst>
              <a:gd name="adj" fmla="val 26316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1430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TIKTOK TECHJAM 2026 · TRACK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Hidden Product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7.0× Baseline Hit Rate in 10 Conversational Turns · 50k Catalog · 0 External LLM Calls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47472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57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HIT@10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800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176 / 200 sessions (7.0×)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29000" y="347472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3657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11880" y="39776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0.4916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611880" y="4800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7.2× official starter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347472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657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MTTC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39776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3.375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09360" y="4800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2.9× faster (turns)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23960" y="347472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3657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SCORE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06840" y="397764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0.7400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006840" y="48006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7× starter (0.1067)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  |  Data: Amazon Reviews 2023, McAuley Lab, UCSD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Spec-Contract Pipeline &amp; Defensive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SIMULATOR API CONTRACT (Official Evaluator)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47548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Turn Options: Every turn returns message + optional ask_attribute + up to 10 recommendations.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Hit Sacrifice: Clarification questions never forfeit recommendation evaluation.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Stop Condition: Immediate win if target in top-10, else max 10 turns.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Reliability Defenses: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Strict de-duplication &amp; valid catalog ASIN enforcement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ask_attribute validated strictly against allowed spec enum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Deterministic isolation: per-session state lifecycle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- 332 automated tests guarding all contracts &amp; regression bounds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- Fully deterministic offline execution (0 network dependency)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371600"/>
            <a:ext cx="5303520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EXECUTION FUNNEL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1965960"/>
            <a:ext cx="4754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3911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50,000 Catalog Products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313432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SQLite FTS5 BM25 + Hashed TF-IDF Semantic Index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807208"/>
            <a:ext cx="4754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28803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Hybrid Retrieval Pool (~300 items)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37960" y="315468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Reciprocal Rank Fusion (k=60) + Guarantee Pool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3648456"/>
            <a:ext cx="4754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Full Candidate Scoring (320 Safety Cap)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995928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 &gt;= Pool: 100% of candidate pool scored through ranker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0" y="4489704"/>
            <a:ext cx="4754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56285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8-Gate Clarification Engine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4837176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Entropy set-splitting on Boolean token index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0" y="5330952"/>
            <a:ext cx="4754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540410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Top-10 Attributed Output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5678424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 coverage × IDF × Salience + Popularity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Staircase: 7.0× Hit Rate &amp; 7.2× MRR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201168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System State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Hit@10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MRR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MTTC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Technical Score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Starter (Official Baseline)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0.125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0.0680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9.81 turns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0.1067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Pre-Experiments (v2 Baseline)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0.870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0.4455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3.465 turns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0.7193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22F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Shipped (submission-freeze)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0.880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0.4916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3.375 turns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0.7400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E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3657600"/>
            <a:ext cx="51206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3840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METRIC FORMULA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14400" y="4206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TechnicalScore = 0.5·Hit@10 + 0.3·MRR + 0.2·Efficiency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Efficiency = clip((11 − MTTC) / 10, 0, 1)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14400" y="493776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7.0× Hit Rate (0.125 → 0.880)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7.2× Mean Reciprocal Rank (0.068 → 0.4916)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Found 2.9× faster (9.81 → 3.375 turns)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~7× Technical Score gain overall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3657600"/>
            <a:ext cx="530352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3840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GAIN DECOMPOSITION (vs v2 Pre-Exp)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09360" y="4206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 TechnicalScore = +0.0207 (+2.07 pp)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309360" y="461772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MRR Gain: 67% of ΔTS (0.3 · +0.0461 = +0.0138)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Hit@10 Gain: 24% of ΔTS (0.5 · +0.0100 = +0.0050)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Efficiency Gain: 9% of ΔTS (0.2 · +0.0090 = +0.0018)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Insight: Two-thirds of the gain comes from MRR — the ranker puts the target higher in the top 10.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Exploration of Organizer-Proposed Innovation Directions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466344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6662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Organizer Direction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ShopCopilot Approach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Experimental Outcome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Hybrid Retrieval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BM25 FTS5 (0.7) + Semantic TF-IDF (0.3) + RRF (k=60) + Guarantee Pool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Shipped in v2: 88% pool recall, 0.880 Hit@10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Adaptive Clarification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8-Gate entropy engine; question-margin gate hypothesis tested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F5F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0/19 late-phase gate triggered; stopped before building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Personalization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profile boost (weight sweep 0.00 to 0.15) guarded by hard constraints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F5F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Weight 0.03 worsened MRR; set to 0.00 (fail-safe)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Explainable Ranking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Per-item ranking provenance (coverage, salience, popularity, violations)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 in interactive demo; zero score penalty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LLM Reranking Tier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OpenRouter GPT-4o-mini / Nemotron with strict margin &amp; twin gates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F5F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Live probe Δ=0, +454ms latency; killed by ship gate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Constraint Reweighting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Salience vs Popularity rebalancing (0.5 → 0.2) in deterministic ranker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SHIPPED WIN: +4/−1 flips on dev, +1.0pp Hit, +4.6pp MRR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Method: Worktree Isolation &amp; Paired Flips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Worktree Isolation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dedicated git experiment worktrees branched from control snapshot 80eee9a.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cross-contamination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Frozen evaluator untouched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Single config registration rule (tests/test_config_registered.py)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Pre-Registered Pass Bars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28600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experiment had written acceptance criteria before running first eval: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Hit gain bar: ΔHit &gt;= +0.03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Latency ceiling: added p95 &lt;= 2s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Automatic revert on regression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373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Paired-Session Flips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83880" y="228600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 differences &lt;3pp on 160 sessions are noise.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Exact per-session paired flips (miss→hit vs hit→miss)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Measured noise floor: ±1 session (159/160 match across identical runs)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Shipped Win: Constraint Salience vs Popularity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PAIRED FLIP WATERFALL (Dev-160)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47548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 Hits (fork-point 80eee9a): 141 / 160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+ 4 Miss → Hit Flips: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• public_0031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• public_0100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• public_0085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• public_0125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− 1 Hit → Miss Flip: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• public_0035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Dev Hits: 144 / 160 (0.900 Hit@10, +3 Net Flips)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0" y="1371600"/>
            <a:ext cx="5303520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 &amp; HYPOTHESIS REALITY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1920240"/>
            <a:ext cx="49377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Popularity score was crowding out products that satisfied specific, high-value user constraints. Lowering salience weight (0.5 → 0.2) lets constraint coverage dominate.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Honesty Box (Scientific Discipline):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experiment originally hypothesized a Buying-specific win. In reality, the wins were route-general across multiple scenarios.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Because the net +3 paired flips exceeded the ±1 noise floor and confirmed on the public-200 set (0.870 → 0.880, MRR 0.4455 → 0.4916), it was merged to main.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Out-of-Sample Transfer &amp; Per-Scenario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PROGRESSION ACROSS SPLITS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47548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Dev-160 Split (Tuning Set):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Control: 141 / 160 (0.881) · MRR 0.4388 · MTTC 3.32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Shipped: 144 / 160 (0.900) · MRR 0.5144 · MTTC 3.19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Public-200 Set (Confirmation Only — Touched Twice):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Baseline: 174 / 200 (0.870) · MRR 0.4455 · MTTC 3.465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Shipped:  176 / 200 (0.880) · MRR 0.4916 · MTTC 3.375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Out-of-sample confirmation proved the salience gain was not overfitted to dev.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371600"/>
          <a:ext cx="5303520" cy="3108960"/>
        </p:xfrm>
        <a:graphic>
          <a:graphicData uri="http://schemas.openxmlformats.org/drawingml/2006/table">
            <a:tbl>
              <a:tblPr/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Scenario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Hit@10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MRR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MTTC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74 / 80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0.9250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0.4532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2.91 turns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Buying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73 / 80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0.9125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0.5444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2.65 turns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Intent Override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 / 30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0.7667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0.4960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5.47 turns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Boundary (Vague)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 / 10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0.6000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0.3625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6.60 turns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26480" y="466344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09360" y="48006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Honesty in Small Denominators: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Boundary is 6 of 10 and Intent Override is 23 of 30. We show exact sample sizes (n=80, 80, 30, 10) rather than hiding behind percentage rates.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Graveyard: 6 Hypotheses Rejected by Their Own Bars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411480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Experiment Branch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 Flips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Pre-Registered Bar / Reason for Rejection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exp/rank-salience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 net (+4/−1)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Exceeded ±1 noise floor; confirmed on public-200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MERGED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exp/global-salience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 net (+2/−1)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Within ±1 noise floor; not confirmed out-of-sample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F5F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Reverted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exp/competition-window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 net (+2/−1)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Within ±1 noise floor; identical flips to global-salience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F5F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Unmerged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exp/uninformative-stop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02C2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 net (+1/−2)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Regressed Hit (143/160); broke public_0104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02C2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Reverted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exp/rank-coverage-idf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net (0/0)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Zero effect: 156/160 dev sessions over-generality dominated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F5F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Unmerged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exp/question-margin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Gate: 0/19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of 19 misses exhibited late-phase collapse opportunity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F5F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Stopped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exp/boundary-override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Forensics: 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Forensics disproved lag premise; extraction already same-turn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9F5F6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Stopped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"Every red row was rejected by criteria written before the experiment ran. The 0.90625 in our logs was never merged."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Structural Findings Discovered Through Negative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002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60020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MTTC = First Hit Turn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48463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evaluator terminates sessions the instant a target enters top 10. Wasted clarification questions occur POST-hit, so 'asking fewer questions' cannot mechanically reduce MTTC. Only surfacing the target sooner improves MTTC.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4630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6002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03720" y="160020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Conversation ↔ Retrieval Coupling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55080" y="1965960"/>
            <a:ext cx="48463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'Hit-safe by construction' is FALSE. In session public_0104, stopping clarification preserved an unrefined query that failed retrieval on subsequent turns. Dialogue and retrieval state are tightly coupled.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9319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93192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Labels ≠ Runtime Route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297680"/>
            <a:ext cx="48463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scenario types (Browsing vs Buying) do not determine turn-by-turn dynamics. 89% of browsing sessions acquire hard constraints by turn 2 and dynamically switch to Buying route weights.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79476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93192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903720" y="393192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 Re-orderings Are Saturated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4297680"/>
            <a:ext cx="48463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completely independent ranker experiments (global-salience &amp; competition-window) produced IDENTICAL flips (+2/−1: public_0075, public_0092 / public_0112). Ranking permutations on existing pools have hit saturation.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Miss: Root-Cause Forensic Audit of All Misses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Pool Depth Misses (2)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30632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product fell beyond retrieval cutoff (post-filter ranks 240–410 and 823–1480).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Coverage cap in candidate generation (rank 201+), not a ranking bug.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46304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6459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 Score Misses (13)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26280" y="1965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16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26280" y="2468880"/>
            <a:ext cx="30632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was present in candidate pool but outranked by competing high-coverage items.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Deep misses need new information from user, not reordering.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146304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6459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Extraction Residue (1)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38160" y="196596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138160" y="2468880"/>
            <a:ext cx="30632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entity extraction edge case (public_0117) with complex overlapping syntax.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Cause: Bounded regex parsing on unstructured customer utterances.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937760"/>
            <a:ext cx="3429000" cy="109728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02920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FAITHFUL: 0 / 13 recoverable constraints dropped from queries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43400" y="4937760"/>
            <a:ext cx="3429000" cy="109728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502920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POOL MISSES: Coverage cap (rank 201+), not pipeline bugs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4937760"/>
            <a:ext cx="3429000" cy="1097280"/>
          </a:xfrm>
          <a:prstGeom prst="roundRect">
            <a:avLst>
              <a:gd name="adj" fmla="val 6667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92440" y="502920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F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MISSES: Need new user information, not permutation tweaks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Feasibility Disclosure: Model, Cost &amp; Latency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466344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Item / Dimension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Official Submission Disclosure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Verification Evidence / Artifact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FBB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Runtime Model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— Deterministic BM25 + Hashed TF-IDF + Constraint Ranker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results.json: reported_token_usage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LLM Tokens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Prompt Tokens / 0 Completion Tokens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results.json: total_tokens =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Inference Cost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22F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$0.00 (Zero model API cost)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Self-contained local execution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Dependency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at inference time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Runs completely air-gapped / offline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Turn Latency (dev-160)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p50: 330.1 ms  ·  p95: 526.6 ms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runs/control-dev-newbaseline.json:panel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Optional LLM Tier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Built &amp; Gated (OpenRouter gpt-4o-mini); default OFF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default_strategy.json: enable_llm_reranker = false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Execution Environment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3.13.2 · Windows 11 Pro 64-bit · AMD Ryzen 7 (32GB RAM)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Captured live via docs/final-eval-record.md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Impact: Guided Purchase vs Commercial Abandonment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Bounce Rate Collapse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3.4 turns vs 9.8 turns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3063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conversational search fails when users abandon after vague initial queries. Reducing mean turns to conversion from 9.8 to 3.4 turns changes user experience from bounce to completed checkout.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7373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Attributable Ranking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26280" y="21031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Transparent Explanations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2606040"/>
            <a:ext cx="3063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recommendation provides exact mathematical attribution: constraint coverage, IDF rarity, field salience, and popularity. High-stakes e-commerce requires explainability that black-box LLMs cannot provide.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5528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7373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Marginal Cost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38160" y="210312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$0.00 inference cost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38160" y="2606040"/>
            <a:ext cx="3063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Servicing millions of retail users with $0.02/turn LLM rerankers destroys unit economics. Our deterministic index serves 330 ms responses with zero external API fees and 100% uptime SLA.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Final-Eval Readiness: 800 Hidden Sessions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002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✔  Evaluator Frozen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evaluator/ byte-identical to starter package. Zero edits, imports only.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002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✔  Fresh-Clone Rehearsal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1965960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Cloned clean repo into temporary workspace; reproduces exact 0.880 table.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01752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5468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✔  No Session Hardcoding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3520440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session-id checks in starter/ or neeshops/ codebase.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01752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15468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✔  Strict Data Isolation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3520440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Public-200 touched twice for confirmation; 800 hidden sessions touched 0 times.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57200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70916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✔  332 Automated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5074920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Pytest suite passes 100% (332 pass, 1 deselected) in under 22 seconds.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457200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70916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22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✔  Snapshot &amp; Env Retained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55080" y="5074920"/>
            <a:ext cx="4892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git commit 46e3322, pip dependencies, and hardware captured.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Roadmap: Beyond Submission Freeze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Expansion Layer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3063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 candidate coverage cap (201+) with category-specialized inverted sub-indices to eliminate the remaining 2 pool misses.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73736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6280" y="20574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Feature Enrichment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6280" y="2606040"/>
            <a:ext cx="3063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fine-grained attributes (fabric weight, collar type, sole stiffness) to supply new information for rank-depth misses.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55280" y="1463040"/>
            <a:ext cx="3429000" cy="4572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73736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22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38160" y="20574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Hit Prioritization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38160" y="2606040"/>
            <a:ext cx="3063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40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Optimize turn-1 recommendation ranking specifically for top-1 placement to drive MTTC below 2.5 turns.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SHOPCOPILOT · TECHJAM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Artifact Provenance &amp; Reproduction Commands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 TAG CHAIN &amp; ARTIFACT REFS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475488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 Chain: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fork-point (80eee9a) — fork baseline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new-baseline (46e3322) — post-salience control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submission-freeze (46e3322) — official submission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Evidence Artifacts: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results.json — public-200 score (0.880)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runs/control-dev-newbaseline.json — dev-160 (0.900)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docs/experiment-ledger.md — all experiment runs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docs/final-eval-record.md — fresh clone record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DATA_ATTRIBUTION.md — UCSD McAuley Lab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371600"/>
            <a:ext cx="5303520" cy="4754880"/>
          </a:xfrm>
          <a:prstGeom prst="roundRect">
            <a:avLst>
              <a:gd name="adj" fmla="val 1923"/>
            </a:avLst>
          </a:prstGeom>
          <a:solidFill>
            <a:srgbClr val="EFDFBB"/>
          </a:solidFill>
          <a:ln w="12700">
            <a:solidFill>
              <a:srgbClr val="D9CB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5544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22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 IN 3 COMMANDS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1920240"/>
            <a:ext cx="49377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Install Dependencies &amp; Build Catalog FTS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scripts/setup_catalog.py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Run Test Suite (332 passed)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-q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Run Official Evaluator (Reproduces 0.880 Table)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evaluator.local_evaluator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Launch Interactive Live Demo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scripts/interactive_demo.py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ShopCopilot · TechJam 2026 · submission-freeze 46e3322  |  Data Attribution: Amazon Reviews 2023, McAuley Lab, UCSD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ShopCopilot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ShopCopilot TechJam 2026 Presentation</dc:title>
  <dc:subject>PptxGenJS Presentation</dc:subject>
  <dc:creator>ShopCopilot Team</dc:creator>
  <cp:lastModifiedBy>ShopCopilot Team</cp:lastModifiedBy>
  <cp:revision>1</cp:revision>
  <dcterms:created xsi:type="dcterms:W3CDTF">2026-08-31T10:30:53Z</dcterms:created>
  <dcterms:modified xsi:type="dcterms:W3CDTF">2026-08-31T10:30:53Z</dcterms:modified>
</cp:coreProperties>
</file>
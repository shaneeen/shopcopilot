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Starter (official)</c:v>
                </c:pt>
              </c:strCache>
            </c:strRef>
          </c:tx>
          <c:spPr>
            <a:solidFill>
              <a:srgbClr val="C9B89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Hit@10</c:v>
                  </c:pt>
                  <c:pt idx="1">
                    <c:v>MRR</c:v>
                  </c:pt>
                  <c:pt idx="2">
                    <c:v>Tech Score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0.125</c:v>
                </c:pt>
                <c:pt idx="1">
                  <c:v>0.068</c:v>
                </c:pt>
                <c:pt idx="2">
                  <c:v>0.1067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(pre-experiments)</c:v>
                </c:pt>
              </c:strCache>
            </c:strRef>
          </c:tx>
          <c:spPr>
            <a:solidFill>
              <a:srgbClr val="8A6F5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Hit@10</c:v>
                  </c:pt>
                  <c:pt idx="1">
                    <c:v>MRR</c:v>
                  </c:pt>
                  <c:pt idx="2">
                    <c:v>Tech Score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0.87</c:v>
                </c:pt>
                <c:pt idx="1">
                  <c:v>0.4455</c:v>
                </c:pt>
                <c:pt idx="2">
                  <c:v>0.7193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Shipped (freeze)</c:v>
                </c:pt>
              </c:strCache>
            </c:strRef>
          </c:tx>
          <c:spPr>
            <a:solidFill>
              <a:srgbClr val="722F3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Hit@10</c:v>
                  </c:pt>
                  <c:pt idx="1">
                    <c:v>MRR</c:v>
                  </c:pt>
                  <c:pt idx="2">
                    <c:v>Tech Score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0.88</c:v>
                </c:pt>
                <c:pt idx="1">
                  <c:v>0.4916</c:v>
                </c:pt>
                <c:pt idx="2">
                  <c:v>0.74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B1F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1F2E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 +0.0138 · 67%</c:v>
                </c:pt>
              </c:strCache>
            </c:strRef>
          </c:tx>
          <c:spPr>
            <a:solidFill>
              <a:srgbClr val="722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ΔTS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0.0138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Hit@10  +0.0050 · 24%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ΔTS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Efficiency  +0.0018 · 9%</c:v>
                </c:pt>
              </c:strCache>
            </c:strRef>
          </c:tx>
          <c:spPr>
            <a:solidFill>
              <a:srgbClr val="C9B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ΔTS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0.0018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20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B1F2E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Hit@10</c:v>
                </c:pt>
              </c:strCache>
            </c:strRef>
          </c:tx>
          <c:spPr>
            <a:solidFill>
              <a:srgbClr val="722F3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F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Boundary · 6/10</c:v>
                  </c:pt>
                  <c:pt idx="1">
                    <c:v>Intent Override · 23/30</c:v>
                  </c:pt>
                  <c:pt idx="2">
                    <c:v>Buying · 73/80</c:v>
                  </c:pt>
                  <c:pt idx="3">
                    <c:v>Browsing · 74/80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0.7667</c:v>
                </c:pt>
                <c:pt idx="2">
                  <c:v>0.9125</c:v>
                </c:pt>
                <c:pt idx="3">
                  <c:v>0.925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50" u="none">
                  <a:solidFill>
                    <a:srgbClr val="1B1F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22F37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Pt>
            <c:idx val="2"/>
            <c:bubble3D val="0"/>
            <c:spPr>
              <a:solidFill>
                <a:srgbClr val="C9B89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Rank-depth · 13</c:v>
                </c:pt>
                <c:pt idx="1">
                  <c:v>Pool-depth · 2</c:v>
                </c:pt>
                <c:pt idx="2">
                  <c:v>Extraction · 1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E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turns to conversion</c:v>
                </c:pt>
              </c:strCache>
            </c:strRef>
          </c:tx>
          <c:spPr>
            <a:solidFill>
              <a:srgbClr val="C9B8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F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B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22F3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Legacy LLM loop</c:v>
                  </c:pt>
                  <c:pt idx="1">
                    <c:v>ShopCopilot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9.81</c:v>
                </c:pt>
                <c:pt idx="1">
                  <c:v>3.375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1B1F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task: a customer with a hidden target product. Our job: surface it in the top-10 within 10 turns. [EMPHASIZE] We do it 88% of the time in about 3.4 turns. [PAUSE] [ADVANCE]
Timing: 15s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implemented their API exactly — and defensively. [POINT at contract rows] Every turn can ask, recommend, or both; a question never forfeits the hit chance. [POINT at funnel] 50k items → ~300 pool → every candidate scored under the 320 cap → entropy questions → attributed top-10. Fully deterministic, offline. [ADVANCE]
Timing: 30s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[POINT at chart] Against the official baseline we're seven-x on every metric. [PAUSE] [POINT at right panel] Against our own pre-experiment system, two-thirds of the TechnicalScore gain is MRR — the ranker puts the right product higher, exactly what the shipped change predicts. [ADVANCE]
Timing: 45s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attempted every applicable direction on the organizer's own list. [POINT left] The left panel shipped. [POINT right] The right panel died. We probed three LLM classes — a 2.6B dense, a 30B-active-3B MoE, a 120B MoE: accuracy flat, latency two to eight seconds per call — and a local LLM on a consumer laptop loses on time-to-first-token alone. Our deterministic path stays at 330 milliseconds. [ADVANCE]
Timing: 30s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[SLOW] Every experiment had its pass bar written before the first eval ran. We measured per-session paired flips against a strict ±1 session noise floor. [ADVANCE]
Timing: 25s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[POINT at waterfall] Popularity was crowding out constraint matches. Salience 0.5 to 0.2: four miss-to-hit flips against one regression. [LOOK] The win failed its own hypothesis — it shipped anyway, because the flips were the evidence, and it confirmed out-of-sample. [ADVANCE]
Timing: 30s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Gains transferred cleanly out-of-sample from dev to public-200. [POINT at chart] Browsing 92.5%, Buying 91.25%, Intent Override 76.7%, Boundary 60% — and we show the exact counts so the small n is visible. [ADVANCE]
Timing: 25s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[REPEAT] Six experiments did not survive their own bars. [POINT at bars] Two were within the noise floor, one regressed, three had zero effect. Six negatives is how you know the green one is real. [ADVANCE]
Timing: 30s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[SLOW] No score shows these four facts. Each one redirected the next experiment — knowing that 'ask less' cannot move MTTC saved us from weeks of futile prompt engineering. [ADVANCE]
Timing: 35s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We audited our own pipeline for leaks and found none. [POINT at donut] Thirteen of sixteen are rank-depth — the target was in the pool but outranked. [POINT at banner] Zero of thirteen recoverable constraints were dropped. The remaining misses are genuine capability limits, and we know exactly which. [ADVANCE]
Timing: 30s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Feasibility disclosed per spec — [POINT at cards] zero tokens, zero model cost, no network at inference, 330 millisecond responses. The deterministic system is the submission. [ADVANCE]
Timing: 20s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[POINT at chart] Commercial conversational search fails when users abandon: 9.8 turns to conversion is a bounce; 3.4 is a checkout. [POINT at pillars] Attributable ranking builds trust, and zero marginal cost makes it viable at scale. [ADVANCE]
Timing: 25s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800 hidden sessions run against our frozen commit with the unmodified official evaluator. Our fresh clone rehearsal reproduced the exact 0.880 score. [ADVANCE]
Timing: 20s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Our roadmap directly addresses our measured capability limits: expanding the pool recall layer for the two pool misses, enriching features for the deep rank misses. [ADVANCE]
Timing: 15s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Everything in this presentation is reproducible with three standard commands from a clean clone. Thank you — I welcome your questions. [PAUSE]
Timing: 10s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51560"/>
            <a:ext cx="4343400" cy="347472"/>
          </a:xfrm>
          <a:prstGeom prst="roundRect">
            <a:avLst>
              <a:gd name="adj" fmla="val 26316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TIKTOK TECHJAM 2026 · TRACK 4</a:t>
            </a:r>
            <a:pPr indent="0" marL="0">
              <a:buNone/>
            </a:pPr>
            <a:r>
              <a:rPr lang="en-US" sz="100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ANYTHING AH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the Hidden Product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Top-10 hit within 10 conversational turns · 50,000-item catalog · 0 external LLM calls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20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HIT@10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176 / 200 sessions · 7.0×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329184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520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38404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0.4916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11880" y="48006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7.2× official starter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329184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520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MTTC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38404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3.375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48006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found 2.9× faster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23960" y="329184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3520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06840" y="38404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0.7400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006840" y="48006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7× starter (0.1067)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  |  Data: Amazon Reviews 2023, McAuley Lab, UCSD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the Simulator Contract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SIMULATOR CONTRACT (OFFICIAL EVALUATOR)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2103120"/>
            <a:ext cx="256032" cy="256032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turn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36829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+ optional ask + up to 10 recommendations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971800"/>
            <a:ext cx="256032" cy="256032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1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hit sacrifice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323697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clarification question never forfeits the hit check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3840480"/>
            <a:ext cx="256032" cy="256032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7947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Defensive by default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1056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dedupe · valid catalog ASINs · spec-enum asks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4709160"/>
            <a:ext cx="256032" cy="256032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709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46634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core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71600" y="497433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execution · 332 automated tests guard the contracts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623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 imported unmodified — zero edits, imports only.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1371600"/>
            <a:ext cx="5422392" cy="4754880"/>
          </a:xfrm>
          <a:prstGeom prst="roundRect">
            <a:avLst>
              <a:gd name="adj" fmla="val 1923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EXECUTION FUNNEL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23076" y="1965960"/>
            <a:ext cx="48463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5956" y="204825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50,000-item catalog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05956" y="2331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FTS5 BM25 + hashed TF-IDF index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14516" y="2807208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7396" y="288950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Hybrid pool · ~300 items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97396" y="31729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Reciprocal Rank Fusion (k=60) + guarantee pool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05956" y="3648456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8836" y="37307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Full scoring · 320 cap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88836" y="4014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 ≥ pool → 100% of candidates scored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97396" y="4489704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0276" y="4572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8-gate clarification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780276" y="48554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Entropy set-splitting on Boolean token index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88836" y="533095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1716" y="5413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Top-10, attributed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71716" y="5696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× IDF × salience + popularity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Staircase: 7× the Official Baseline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64008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3619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METRICS · PUBLIC-200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1874520"/>
          <a:ext cx="60350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4406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MTTC  9.81 → 3.38 turns</a:t>
            </a:r>
            <a:pPr algn="ctr" indent="0" marL="0"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target found 2.9× faster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050792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536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Δ +0.0207 CAME FROM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7589520" y="1828800"/>
          <a:ext cx="3685032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7589520" y="324612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Two-thirds of the gain is MRR — the ranker puts the target higher in the top 10.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406640" y="4343400"/>
            <a:ext cx="4050792" cy="1783080"/>
          </a:xfrm>
          <a:prstGeom prst="roundRect">
            <a:avLst>
              <a:gd name="adj" fmla="val 5128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89520" y="4507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FORMULA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589520" y="4846320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0.5·Hit@10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+ 0.3·MRR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+ 0.2·clip((11−MTTC)/10)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Directions: What Shipped, What Died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2578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257800" cy="457200"/>
          </a:xfrm>
          <a:prstGeom prst="roundRect">
            <a:avLst>
              <a:gd name="adj" fmla="val 20000"/>
            </a:avLst>
          </a:prstGeom>
          <a:solidFill>
            <a:srgbClr val="722F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 — KEPT BY THE GATES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retrieval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247802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(0.7) + semantic TF-IDF (0.3) + RRF fusion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8254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88% pool recall · 0.880 Hit@10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35204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 reweighting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84962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buying-route salience 0.5 → 0.2, popularity untouched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41970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+1.0pp Hit · +4.6pp MRR · SHIPPED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48920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ranking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522122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· IDF · salience · popularity per item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55686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in demo · zero score penalty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1371600"/>
            <a:ext cx="5257800" cy="4754880"/>
          </a:xfrm>
          <a:prstGeom prst="roundRect">
            <a:avLst>
              <a:gd name="adj" fmla="val 1923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1371600"/>
            <a:ext cx="5257800" cy="457200"/>
          </a:xfrm>
          <a:prstGeom prst="roundRect">
            <a:avLst>
              <a:gd name="adj" fmla="val 20000"/>
            </a:avLst>
          </a:prstGeom>
          <a:solidFill>
            <a:srgbClr val="9F5F6B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KILLED — BY THEIR OWN PRE-REGISTERED BARS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8232" y="21488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reranking tier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28232" y="247802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sizes &amp; classes probed — 2.6B dense · 30B-A3B · 120B-A12B MoE · Hit / MRR ≈ flat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8232" y="28254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ΔHit 0 · ΔMRR −0.005 · +2.2–8.3 s per call → killed · local LLM loses on TTFT too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28232" y="35204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 personalization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28232" y="384962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boost, weight sweep 0.00 – 0.15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28232" y="41970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 worsened MRR → set to 0.00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28232" y="48920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Late-phase question gate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28232" y="522122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margin-gain question value on misses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28232" y="556869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19 misses qualified → stopped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Method: Pre-Registered, Paired, Isolated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83080"/>
            <a:ext cx="502920" cy="502920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Worktree isolation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5 isolated experiment worktrees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branched from control 80eee9a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frozen evaluator · zero contamination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626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4860" y="1783080"/>
            <a:ext cx="502920" cy="502920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11" name="Text 9"/>
          <p:cNvSpPr/>
          <p:nvPr/>
        </p:nvSpPr>
        <p:spPr>
          <a:xfrm>
            <a:off x="45948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4860" y="25146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Pre-registered bars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4860" y="30632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pass bar written before first eval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ΔHit ≥ +0.03 · p95 ≤ +2 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automatic revert on regression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783080"/>
            <a:ext cx="502920" cy="502920"/>
          </a:xfrm>
          <a:prstGeom prst="ellipse">
            <a:avLst/>
          </a:prstGeom>
          <a:solidFill>
            <a:srgbClr val="722F3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25146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Paired-session flips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306324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unit of truth: per-session flips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noise floor ±1 session (159/160 agree)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aggregate shifts &lt;3pp are noise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Shipped Win: Salience vs Popularity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PAIRED FLIP WATERFALL · DEV-160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3629025"/>
            <a:ext cx="320040" cy="0"/>
          </a:xfrm>
          <a:prstGeom prst="line">
            <a:avLst/>
          </a:prstGeom>
          <a:noFill/>
          <a:ln w="12700">
            <a:solidFill>
              <a:srgbClr val="8A7A5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337560" y="2371725"/>
            <a:ext cx="320040" cy="0"/>
          </a:xfrm>
          <a:prstGeom prst="line">
            <a:avLst/>
          </a:prstGeom>
          <a:noFill/>
          <a:ln w="12700">
            <a:solidFill>
              <a:srgbClr val="8A7A5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663440" y="2686050"/>
            <a:ext cx="320040" cy="0"/>
          </a:xfrm>
          <a:prstGeom prst="line">
            <a:avLst/>
          </a:prstGeom>
          <a:noFill/>
          <a:ln w="12700">
            <a:solidFill>
              <a:srgbClr val="8A7A5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5840" y="3629025"/>
            <a:ext cx="1005840" cy="942975"/>
          </a:xfrm>
          <a:prstGeom prst="rect">
            <a:avLst/>
          </a:prstGeom>
          <a:solidFill>
            <a:srgbClr val="C9B896"/>
          </a:solidFill>
          <a:ln w="9525">
            <a:solidFill>
              <a:srgbClr val="D9CB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63265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2371725"/>
            <a:ext cx="1005840" cy="1257300"/>
          </a:xfrm>
          <a:prstGeom prst="rect">
            <a:avLst/>
          </a:prstGeom>
          <a:solidFill>
            <a:srgbClr val="722F37"/>
          </a:solidFill>
          <a:ln w="9525">
            <a:solidFill>
              <a:srgbClr val="D9C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2005965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94560" y="4663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 → Hit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2371725"/>
            <a:ext cx="1005840" cy="314325"/>
          </a:xfrm>
          <a:prstGeom prst="rect">
            <a:avLst/>
          </a:prstGeom>
          <a:solidFill>
            <a:srgbClr val="9F5F6B"/>
          </a:solidFill>
          <a:ln w="9525">
            <a:solidFill>
              <a:srgbClr val="D9CB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005965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20440" y="4663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 → Miss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2686050"/>
            <a:ext cx="1005840" cy="1885950"/>
          </a:xfrm>
          <a:prstGeom prst="rect">
            <a:avLst/>
          </a:prstGeom>
          <a:solidFill>
            <a:srgbClr val="722F37"/>
          </a:solidFill>
          <a:ln w="9525">
            <a:solidFill>
              <a:srgbClr val="D9C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2029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4663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349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+4:  0031 · 0100 · 0085 · 0125        −1:  0035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5669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+3  &gt;  ±1 noise floor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1371600"/>
            <a:ext cx="5056632" cy="4754880"/>
          </a:xfrm>
          <a:prstGeom prst="roundRect">
            <a:avLst>
              <a:gd name="adj" fmla="val 1923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554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19202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Popularity crowded out products satisfying rare, high-value constraints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Fix: buying-route salience weight 0.5 → 0.2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0" y="3063240"/>
            <a:ext cx="4690872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2004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347472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its own Buying-specific hypothesis — the wins were route-general. Shipped anyway: flips, not hypothesis, were the evidence.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4983480"/>
            <a:ext cx="4690872" cy="777240"/>
          </a:xfrm>
          <a:prstGeom prst="roundRect">
            <a:avLst>
              <a:gd name="adj" fmla="val 9412"/>
            </a:avLst>
          </a:prstGeom>
          <a:solidFill>
            <a:srgbClr val="722F37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49834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public-200 confirm:  Hit 0.870 → 0.880 · MRR 0.4455 → 0.4916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Out-of-Sample Confirmation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PROGRESSION ACROSS SPLITS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214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DEV-160 · TUNING SET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97280" y="23957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0.900 Hit@10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9443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C4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 / 160 · MRR 0.5144 · MTTC 3.19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61188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216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PUBLIC-200 · CONFIRMATION (TOUCHED 2×)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7280" y="39959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0.880 Hit@10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45445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C4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176 / 200 · MRR 0.4916 · MTTC 3.375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3383280"/>
            <a:ext cx="0" cy="457200"/>
          </a:xfrm>
          <a:prstGeom prst="line">
            <a:avLst/>
          </a:prstGeom>
          <a:noFill/>
          <a:ln w="31750">
            <a:solidFill>
              <a:srgbClr val="722F3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5349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salience gain was not overfitted to dev.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5330952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HIT@10 BY SCENARIO (PUBLIC-200)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309360" y="1920240"/>
          <a:ext cx="4937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6309360" y="5440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counts on every bar — small denominators stay visible.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Graveyard: 6 Rejected by Their Own Bars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0" y="1508760"/>
            <a:ext cx="0" cy="4123944"/>
          </a:xfrm>
          <a:prstGeom prst="line">
            <a:avLst/>
          </a:prstGeom>
          <a:noFill/>
          <a:ln w="15875">
            <a:solidFill>
              <a:srgbClr val="D9CB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45336"/>
            <a:ext cx="10725912" cy="521208"/>
          </a:xfrm>
          <a:prstGeom prst="rect">
            <a:avLst/>
          </a:prstGeom>
          <a:solidFill>
            <a:srgbClr val="F4EDE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exp/rank-salience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760220"/>
            <a:ext cx="1371600" cy="256032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8" name="Text 6"/>
          <p:cNvSpPr/>
          <p:nvPr/>
        </p:nvSpPr>
        <p:spPr>
          <a:xfrm>
            <a:off x="5742432" y="16276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6276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Exceeded ±1 noise floor · confirmed on public-200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921240" y="1655064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722F37"/>
          </a:solidFill>
          <a:ln w="12700">
            <a:solidFill>
              <a:srgbClr val="722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21240" y="165506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20370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exp/global-salience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2336292"/>
            <a:ext cx="457200" cy="256032"/>
          </a:xfrm>
          <a:prstGeom prst="rect">
            <a:avLst/>
          </a:prstGeom>
          <a:solidFill>
            <a:srgbClr val="9F5F6B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2037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20370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Within ±1 noise floor · didn't generalize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21240" y="2231136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FBF5E7"/>
          </a:solidFill>
          <a:ln w="12700">
            <a:solidFill>
              <a:srgbClr val="9F5F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21240" y="2231136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2697480"/>
            <a:ext cx="10725912" cy="521208"/>
          </a:xfrm>
          <a:prstGeom prst="rect">
            <a:avLst/>
          </a:prstGeom>
          <a:solidFill>
            <a:srgbClr val="F4EDE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77977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exp/competition-window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2912364"/>
            <a:ext cx="457200" cy="256032"/>
          </a:xfrm>
          <a:prstGeom prst="rect">
            <a:avLst/>
          </a:prstGeom>
          <a:solidFill>
            <a:srgbClr val="9F5F6B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7797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2779776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Within ±1 noise floor · identical flips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21240" y="2807208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FBF5E7"/>
          </a:solidFill>
          <a:ln w="12700">
            <a:solidFill>
              <a:srgbClr val="9F5F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2807208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Unmerged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33558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exp/uninformative-stop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0480" y="3488436"/>
            <a:ext cx="457200" cy="256032"/>
          </a:xfrm>
          <a:prstGeom prst="rect">
            <a:avLst/>
          </a:prstGeom>
          <a:solidFill>
            <a:srgbClr val="9F5F6B"/>
          </a:solidFill>
          <a:ln/>
        </p:spPr>
      </p:sp>
      <p:sp>
        <p:nvSpPr>
          <p:cNvPr id="27" name="Text 25"/>
          <p:cNvSpPr/>
          <p:nvPr/>
        </p:nvSpPr>
        <p:spPr>
          <a:xfrm>
            <a:off x="3273552" y="33558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33558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Regressed hits · broke session 0104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21240" y="3383280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FBF5E7"/>
          </a:solidFill>
          <a:ln w="12700">
            <a:solidFill>
              <a:srgbClr val="9F5F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3383280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3849624"/>
            <a:ext cx="10725912" cy="521208"/>
          </a:xfrm>
          <a:prstGeom prst="rect">
            <a:avLst/>
          </a:prstGeom>
          <a:solidFill>
            <a:srgbClr val="F4EDE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9319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exp/rank-coverage-idf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70248" y="4064508"/>
            <a:ext cx="54864" cy="256032"/>
          </a:xfrm>
          <a:prstGeom prst="rect">
            <a:avLst/>
          </a:prstGeom>
          <a:solidFill>
            <a:srgbClr val="8A7A5E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3931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39319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Pool lever never fires on dev (0/0 flips)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921240" y="3959352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FBF5E7"/>
          </a:solidFill>
          <a:ln w="12700">
            <a:solidFill>
              <a:srgbClr val="9F5F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0" y="3959352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Unmerged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7240" y="45079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exp/question-margin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70248" y="4640580"/>
            <a:ext cx="54864" cy="256032"/>
          </a:xfrm>
          <a:prstGeom prst="rect">
            <a:avLst/>
          </a:prstGeom>
          <a:solidFill>
            <a:srgbClr val="8A7A5E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0" y="45079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89320" y="4507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absent in the 19 misses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921240" y="4535424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FBF5E7"/>
          </a:solidFill>
          <a:ln w="12700">
            <a:solidFill>
              <a:srgbClr val="9F5F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21240" y="4535424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Stopped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1520" y="5001768"/>
            <a:ext cx="10725912" cy="521208"/>
          </a:xfrm>
          <a:prstGeom prst="rect">
            <a:avLst/>
          </a:prstGeom>
          <a:solidFill>
            <a:srgbClr val="F4EDE0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08406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exp/boundary-override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70248" y="5216652"/>
            <a:ext cx="54864" cy="256032"/>
          </a:xfrm>
          <a:prstGeom prst="rect">
            <a:avLst/>
          </a:prstGeom>
          <a:solidFill>
            <a:srgbClr val="8A7A5E"/>
          </a:solidFill>
          <a:ln/>
        </p:spPr>
      </p:sp>
      <p:sp>
        <p:nvSpPr>
          <p:cNvPr id="47" name="Text 45"/>
          <p:cNvSpPr/>
          <p:nvPr/>
        </p:nvSpPr>
        <p:spPr>
          <a:xfrm>
            <a:off x="4389120" y="50840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89320" y="50840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Premise disproven by replay forensics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921240" y="5111496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FBF5E7"/>
          </a:solidFill>
          <a:ln w="12700">
            <a:solidFill>
              <a:srgbClr val="9F5F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21240" y="5111496"/>
            <a:ext cx="1490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5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Stopped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0" y="126187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paired flips (dev-160)  →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 red row was rejected by criteria written before the experiment ran. The 0.90625 in our logs was never merged.”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Structural Findings from Negative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2763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8760" y="1627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MTTC = first-hit turn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663440" y="1609344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60934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 = 11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2148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evaluator stops the moment the target enters top-10. Wasted questions happen post-hit — only surfacing sooner moves MTTC.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46304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2763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76872" y="1627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Dialogue and retrieval are coupled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0131552" y="1609344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31552" y="160934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Stopping clarification changed the message stream and broke retrieval. “Hit-safe by construction” is false.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00507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4005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labels ≠ runtime route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663440" y="3986784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98678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2688" y="45262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 / 94 non-buying sessions run buying-route turns — including every one of the 15 dev misses.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384048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00507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976872" y="4005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Re-ordering is saturated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0131552" y="3986784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31552" y="398678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+2/−1 ×2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independent ranker changes produced identical flips. Remaining misses need new information, not permutations.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Miss: Forensic Audit of All 16 Dev Misses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480560" cy="47548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 TAXONOMY (DEV-160)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192024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623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16 of 160 sessions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394960" y="1371600"/>
            <a:ext cx="606247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1508760"/>
            <a:ext cx="82296" cy="795528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0" name="Text 7"/>
          <p:cNvSpPr/>
          <p:nvPr/>
        </p:nvSpPr>
        <p:spPr>
          <a:xfrm>
            <a:off x="5623560" y="1536192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46520" y="151790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RANK-DEPTH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46520" y="18013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in the pool but outranked — needs new user information, not re-ordering.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94960" y="2578608"/>
            <a:ext cx="606247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94960" y="2715768"/>
            <a:ext cx="82296" cy="7955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2"/>
          <p:cNvSpPr/>
          <p:nvPr/>
        </p:nvSpPr>
        <p:spPr>
          <a:xfrm>
            <a:off x="5623560" y="274320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446520" y="27249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POOL-DEPTH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46520" y="300837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ranked 201+ in the pool — a recall cap, not a filter bug.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394960" y="3785616"/>
            <a:ext cx="6062472" cy="1069848"/>
          </a:xfrm>
          <a:prstGeom prst="roundRect">
            <a:avLst>
              <a:gd name="adj" fmla="val 854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94960" y="3922776"/>
            <a:ext cx="82296" cy="795528"/>
          </a:xfrm>
          <a:prstGeom prst="rect">
            <a:avLst/>
          </a:prstGeom>
          <a:solidFill>
            <a:srgbClr val="8A7A5E"/>
          </a:solidFill>
          <a:ln/>
        </p:spPr>
      </p:sp>
      <p:sp>
        <p:nvSpPr>
          <p:cNvPr id="20" name="Text 17"/>
          <p:cNvSpPr/>
          <p:nvPr/>
        </p:nvSpPr>
        <p:spPr>
          <a:xfrm>
            <a:off x="5623560" y="3950208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44652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46520" y="421538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overlapping syntax edge case (public_0117).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394960" y="5074920"/>
            <a:ext cx="6062472" cy="1051560"/>
          </a:xfrm>
          <a:prstGeom prst="roundRect">
            <a:avLst>
              <a:gd name="adj" fmla="val 8696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5166360"/>
            <a:ext cx="57150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FAITHFULNESS: </a:t>
            </a:r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of 13 recoverable constraints dropped. The pipeline leaks nothing — remaining misses are genuine capability limits.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Feasibility: Zero Tokens, Zero Cost, Zero Network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TOKENS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prompt · 0 completion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38144" y="1463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21024" y="193852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21024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API fees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463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27648" y="193852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27648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offline at inference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51392" y="14630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2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LATENCY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34272" y="193852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330 ms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34272" y="26060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p50 · p95 527 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1072591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8503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DISCLOSURE DETAIL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0690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406908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BM25 + hashed TF-IDF + constraint ranker — no model at inference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4453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44531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results.json → reported_token_usage = 0 · total_tokens = 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483717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LLM tier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483717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and gated OFF by default (enable_llm_reranker = false)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522122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52212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3.13 · Windows 11 Pro · AMD Ryzen 7 · 32 GB RAM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" y="56052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Recorded live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560527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docs/final-eval-record.md — same frozen commit 46e3322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Impact: From Bounce to Checkout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TO FIND THE PRODUCT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05840" y="201168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440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Vague first query → wrong products → exit.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1480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0" y="1508760"/>
            <a:ext cx="82296" cy="118872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151790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Bounce → checkout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37960" y="190195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3.4 turns vs 9.8 turns completes the purchase instead of abandonment.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3017520"/>
            <a:ext cx="51480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3154680"/>
            <a:ext cx="82296" cy="118872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31638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Attributable ranking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37960" y="354787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card shows coverage, IDF rarity, salience, popularity — math, not a black box.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4663440"/>
            <a:ext cx="51480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4800600"/>
            <a:ext cx="82296" cy="1188720"/>
          </a:xfrm>
          <a:prstGeom prst="rect">
            <a:avLst/>
          </a:prstGeom>
          <a:solidFill>
            <a:srgbClr val="722F37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48097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marginal cost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37960" y="519379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330 ms responses, $0.00 per turn, 100% uptime SLA — unit economics survive scale.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Final-Eval Readiness: 800 Hidden Sessions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16093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 frozen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98448" y="202996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byte-identical to starter package — imports only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4630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66560" y="16093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Fresh-clone rehearsal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66560" y="2029968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clone reproduces the exact 0.880 table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035808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98448" y="31821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hardcoding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3602736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session-id checks anywhere in the codebase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3035808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66560" y="31821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isolation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66560" y="3602736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800 hidden sessions touched 0 times · public-200 touched 2×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608576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98448" y="47548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332 automated tests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98448" y="517550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in 21 s on the frozen commit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99632" y="4608576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766560" y="47548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 retained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766560" y="517550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46e3322 · pip deps · hardware captured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Roadmap: Attack the Measured Ceilings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expansion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Category-specialized inverted sub-indices break the rank-201+ candidate cap.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5120640"/>
            <a:ext cx="2971800" cy="640080"/>
          </a:xfrm>
          <a:prstGeom prst="roundRect">
            <a:avLst>
              <a:gd name="adj" fmla="val 14286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5120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removes the 2 pool misses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626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4860" y="17373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4860" y="20574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feature enrichment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4860" y="28803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fine-grained attributes — fabric weight, collar, sole stiffness.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94860" y="5120640"/>
            <a:ext cx="2971800" cy="640080"/>
          </a:xfrm>
          <a:prstGeom prst="roundRect">
            <a:avLst>
              <a:gd name="adj" fmla="val 14286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2020" y="5120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feeds the 13 rank-depth misses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01000" y="146304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7373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20574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hit prioritization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28803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4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 turn-1 ranking for top-1 placement, not just top-10 membership.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5120640"/>
            <a:ext cx="2971800" cy="640080"/>
          </a:xfrm>
          <a:prstGeom prst="roundRect">
            <a:avLst>
              <a:gd name="adj" fmla="val 14286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5120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MTTC 3.38 → &lt; 2.5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SHOPCOPILOT · TECHJAM 2026 · ANYTHING 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Provenance &amp; Reproducibility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 CHAIN &amp; KEY ARTIFACTS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fork-point          80eee9a   dev baseline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new-baseline    46e3322   post-salience control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submission-freeze 46e3322   official submission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ARTIFACTS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results.json — public-200 · 0.880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runs/control-dev-newbaseline.json — dev-160 · 0.900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docs/experiment-ledger.md — every run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DATA_ATTRIBUTION.md — UCSD McAuley Lab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5330952" cy="4754880"/>
          </a:xfrm>
          <a:prstGeom prst="roundRect">
            <a:avLst>
              <a:gd name="adj" fmla="val 1923"/>
            </a:avLst>
          </a:prstGeom>
          <a:solidFill>
            <a:srgbClr val="EFDFBB"/>
          </a:solidFill>
          <a:ln w="12700">
            <a:solidFill>
              <a:srgbClr val="D9CB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554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2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REPRODUCE FROM A CLEAN CLONE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196596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· install + build catalog index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scripts/setup_catalog.py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· test suite (332 passed)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-q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· official evaluator → 0.880 table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evaluator.local_evaluator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· live interactive demo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scripts/interactive_demo.py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ShopCopilot · TechJam 2026 · Anything Ah · submission-freeze 46e3322  |  Data Attribution: Amazon Reviews 2023, McAuley Lab, UCSD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Anything Ah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ShopCopilot TechJam 2026 Presentation</dc:title>
  <dc:subject>PptxGenJS Presentation</dc:subject>
  <dc:creator>Anything Ah</dc:creator>
  <cp:lastModifiedBy>Anything Ah</cp:lastModifiedBy>
  <cp:revision>1</cp:revision>
  <dcterms:created xsi:type="dcterms:W3CDTF">2026-08-31T15:18:55Z</dcterms:created>
  <dcterms:modified xsi:type="dcterms:W3CDTF">2026-08-31T15:18:55Z</dcterms:modified>
</cp:coreProperties>
</file>